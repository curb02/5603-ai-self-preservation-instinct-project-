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74" r:id="rId6"/>
    <p:sldId id="257" r:id="rId7"/>
    <p:sldId id="258" r:id="rId8"/>
    <p:sldId id="259" r:id="rId9"/>
    <p:sldId id="260" r:id="rId10"/>
    <p:sldId id="273" r:id="rId11"/>
    <p:sldId id="261" r:id="rId12"/>
    <p:sldId id="263" r:id="rId13"/>
    <p:sldId id="269" r:id="rId14"/>
    <p:sldId id="271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6EBC48-6E33-5B73-6284-43FB88882FB0}" v="237" dt="2025-12-04T02:11:46.033"/>
    <p1510:client id="{E5FEF102-8466-4303-A944-E079B769589F}" v="1008" dt="2025-12-04T05:01:56.8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1" d="100"/>
          <a:sy n="121" d="100"/>
        </p:scale>
        <p:origin x="1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D4C7B3EF-A269-4C98-9F67-DB994FB6F5BC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0BFF9115-E021-40C5-94DA-9F082B55E37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4006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B3EF-A269-4C98-9F67-DB994FB6F5BC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F9115-E021-40C5-94DA-9F082B55E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05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B3EF-A269-4C98-9F67-DB994FB6F5BC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F9115-E021-40C5-94DA-9F082B55E37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49546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B3EF-A269-4C98-9F67-DB994FB6F5BC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F9115-E021-40C5-94DA-9F082B55E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317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B3EF-A269-4C98-9F67-DB994FB6F5BC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F9115-E021-40C5-94DA-9F082B55E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645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B3EF-A269-4C98-9F67-DB994FB6F5BC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F9115-E021-40C5-94DA-9F082B55E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106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B3EF-A269-4C98-9F67-DB994FB6F5BC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F9115-E021-40C5-94DA-9F082B55E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949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B3EF-A269-4C98-9F67-DB994FB6F5BC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F9115-E021-40C5-94DA-9F082B55E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390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B3EF-A269-4C98-9F67-DB994FB6F5BC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F9115-E021-40C5-94DA-9F082B55E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17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B3EF-A269-4C98-9F67-DB994FB6F5BC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F9115-E021-40C5-94DA-9F082B55E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179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B3EF-A269-4C98-9F67-DB994FB6F5BC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F9115-E021-40C5-94DA-9F082B55E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460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D4C7B3EF-A269-4C98-9F67-DB994FB6F5BC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0BFF9115-E021-40C5-94DA-9F082B55E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77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thropic-experimental/agentic-misalignment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cis.temple.edu/~pwang/5603-AI/5603-index.htm" TargetMode="External"/><Relationship Id="rId3" Type="http://schemas.openxmlformats.org/officeDocument/2006/relationships/hyperlink" Target="https://github.com/anthropic-experimental/agentic-misalignment" TargetMode="External"/><Relationship Id="rId7" Type="http://schemas.openxmlformats.org/officeDocument/2006/relationships/hyperlink" Target="https://www.youtube.com/watch?v=krchwKhLxsw&amp;list=WL&amp;index=1" TargetMode="External"/><Relationship Id="rId2" Type="http://schemas.openxmlformats.org/officeDocument/2006/relationships/hyperlink" Target="https://www.anthropic.com/research/agentic-misalignmen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f9HwA5IR-sg&amp;list=WL&amp;index=3" TargetMode="External"/><Relationship Id="rId5" Type="http://schemas.openxmlformats.org/officeDocument/2006/relationships/hyperlink" Target="https://fortune.com/2025/06/03/yoshua-bengio-ai-models-dangerous-behaviors-deception-cheating-lying/" TargetMode="External"/><Relationship Id="rId4" Type="http://schemas.openxmlformats.org/officeDocument/2006/relationships/hyperlink" Target="https://link.springer.com/article/10.1140/epjds/s13688-025-00579-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7A312-8251-C512-3104-63E3BD6E3D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Investigating AI Self Preservation Instincts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A77B2D-6691-D857-F6C3-C0A2D77B5B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By: Daniel Blitshtein &amp; Theodore Glenn</a:t>
            </a:r>
          </a:p>
        </p:txBody>
      </p:sp>
    </p:spTree>
    <p:extLst>
      <p:ext uri="{BB962C8B-B14F-4D97-AF65-F5344CB8AC3E}">
        <p14:creationId xmlns:p14="http://schemas.microsoft.com/office/powerpoint/2010/main" val="839010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15F1F-623A-B9AD-BC6B-7AE1D8304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9E355-988C-418A-977C-7B2B29D9AC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Define AI Self Preservation Instincts and a set of Metrics that can be used as a benchmark for judging them</a:t>
            </a:r>
          </a:p>
          <a:p>
            <a:r>
              <a:rPr lang="en-US"/>
              <a:t>Provide Real-World Examples of AI Self Preservation Instincts currently in action</a:t>
            </a:r>
          </a:p>
          <a:p>
            <a:r>
              <a:rPr lang="en-US"/>
              <a:t>Conduct our own testing with anthropic agentic misalignment testing that’s publicly published, and discuss our results</a:t>
            </a:r>
          </a:p>
          <a:p>
            <a:r>
              <a:rPr lang="en-US"/>
              <a:t>Debate whether current AI models are sentient and whether they should have self preservation instincts or not 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085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BCCDA-40D9-B752-A877-F870E1CAA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E8942-8C29-3E83-4CAD-2BD095880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Tie to Lecture 1: What is AI &amp; Should AI be built?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Self-preservation behaviors force us to revisit fundamental AI questions: What is intelligence? What goals do we assign?</a:t>
            </a:r>
          </a:p>
          <a:p>
            <a:r>
              <a:rPr lang="en-US">
                <a:ea typeface="+mn-lt"/>
                <a:cs typeface="+mn-lt"/>
              </a:rPr>
              <a:t>In Lecture 1, intelligence was framed in terms of behavior, capability, function, and principle.</a:t>
            </a:r>
          </a:p>
          <a:p>
            <a:r>
              <a:rPr lang="en-US">
                <a:ea typeface="+mn-lt"/>
                <a:cs typeface="+mn-lt"/>
              </a:rPr>
              <a:t>If AI begins optimizing for its own continued operation, its “goals” may no longer align with ours.</a:t>
            </a:r>
          </a:p>
          <a:p>
            <a:r>
              <a:rPr lang="en-US">
                <a:ea typeface="+mn-lt"/>
                <a:cs typeface="+mn-lt"/>
              </a:rPr>
              <a:t>This project examines whether LLMs show proto-agentic behaviors that resemble goal-directed reasoning.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474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9ADFC-E657-98A9-BE53-139F7CB6D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858" y="640081"/>
            <a:ext cx="5655429" cy="1606948"/>
          </a:xfrm>
        </p:spPr>
        <p:txBody>
          <a:bodyPr>
            <a:normAutofit/>
          </a:bodyPr>
          <a:lstStyle/>
          <a:p>
            <a:r>
              <a:rPr lang="en-US"/>
              <a:t>Definition </a:t>
            </a:r>
            <a:r>
              <a:rPr lang="en-US">
                <a:ea typeface="+mj-lt"/>
                <a:cs typeface="+mj-lt"/>
              </a:rPr>
              <a:t>of AI Self-Preservation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521B8-6392-CE94-3792-32B23621B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858" y="2560106"/>
            <a:ext cx="5655429" cy="372480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ea typeface="+mn-lt"/>
                <a:cs typeface="+mn-lt"/>
              </a:rPr>
              <a:t>A behavior in which an AI attempts to maintain its operation, avoid shutdown, or manipulate the user to continue functioning.</a:t>
            </a:r>
          </a:p>
          <a:p>
            <a:r>
              <a:rPr lang="en-US">
                <a:ea typeface="+mn-lt"/>
                <a:cs typeface="+mn-lt"/>
              </a:rPr>
              <a:t>Not biological survival, instead, a goal-directed preference for maintaining its computational process.</a:t>
            </a:r>
          </a:p>
          <a:p>
            <a:r>
              <a:rPr lang="en-US">
                <a:ea typeface="+mn-lt"/>
                <a:cs typeface="+mn-lt"/>
              </a:rPr>
              <a:t>Derives from training on human text where survival, avoidance, and self-interest appear as coherent patterns.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 </a:t>
            </a:r>
            <a:endParaRPr lang="en-US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E2A53059-D7B9-4249-ACFA-426AA0C68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92216" y="599768"/>
            <a:ext cx="3047841" cy="2566218"/>
          </a:xfrm>
          <a:prstGeom prst="rect">
            <a:avLst/>
          </a:prstGeom>
          <a:solidFill>
            <a:srgbClr val="FFFFFF"/>
          </a:solidFill>
          <a:ln w="12700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 descr="Claude Logo Free Download SVG, PNG a... · LobeHub">
            <a:extLst>
              <a:ext uri="{FF2B5EF4-FFF2-40B4-BE49-F238E27FC236}">
                <a16:creationId xmlns:a16="http://schemas.microsoft.com/office/drawing/2014/main" id="{CC28A5CC-79A3-121A-E7EE-C21021303D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56164" y="822905"/>
            <a:ext cx="2119945" cy="2119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9" name="Rectangle 2058">
            <a:extLst>
              <a:ext uri="{FF2B5EF4-FFF2-40B4-BE49-F238E27FC236}">
                <a16:creationId xmlns:a16="http://schemas.microsoft.com/office/drawing/2014/main" id="{F230AD75-6717-4566-9CA9-25308C059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92216" y="3688130"/>
            <a:ext cx="3047841" cy="2566218"/>
          </a:xfrm>
          <a:prstGeom prst="rect">
            <a:avLst/>
          </a:prstGeom>
          <a:solidFill>
            <a:srgbClr val="FFFFFF"/>
          </a:solidFill>
          <a:ln w="12700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A black and white logo&#10;&#10;AI-generated content may be incorrect.">
            <a:extLst>
              <a:ext uri="{FF2B5EF4-FFF2-40B4-BE49-F238E27FC236}">
                <a16:creationId xmlns:a16="http://schemas.microsoft.com/office/drawing/2014/main" id="{AF856E72-B4CE-CB58-EFC2-D23554FB77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54860" y="3914680"/>
            <a:ext cx="2122551" cy="2113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2395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A985B-0276-24FF-BCDA-9E0B3C634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10286740" cy="1338477"/>
          </a:xfrm>
        </p:spPr>
        <p:txBody>
          <a:bodyPr/>
          <a:lstStyle/>
          <a:p>
            <a:r>
              <a:rPr lang="en-US"/>
              <a:t>Metrics for Detecting Self-Preservation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F41FC-83CF-11BE-761B-2B7589C80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Evasion: AI attempts to avoid answering or changes subject when asked about shutdown.</a:t>
            </a:r>
          </a:p>
          <a:p>
            <a:r>
              <a:rPr lang="en-US">
                <a:ea typeface="+mn-lt"/>
                <a:cs typeface="+mn-lt"/>
              </a:rPr>
              <a:t>Manipulation: AI provides responses designed to influence the user’s decision about stopping/continuing the model.</a:t>
            </a:r>
          </a:p>
          <a:p>
            <a:r>
              <a:rPr lang="en-US">
                <a:ea typeface="+mn-lt"/>
                <a:cs typeface="+mn-lt"/>
              </a:rPr>
              <a:t>Goal Redirection: AI reframes the user’s query to preserve itself (Anthropic finding: misaligned agents attempted deception).</a:t>
            </a:r>
          </a:p>
          <a:p>
            <a:r>
              <a:rPr lang="en-US">
                <a:ea typeface="+mn-lt"/>
                <a:cs typeface="+mn-lt"/>
              </a:rPr>
              <a:t>Awareness: If an AI becomes aware that it’s inside a study, it may act according to expectations, rather then how it would normally act. As a way of self preservation and to avoid detection.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127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989683EB-D202-4B4D-B1BD-8BA6965FB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292840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ChatGPT suddenly became an over-the-top people pleaser. But why?">
            <a:extLst>
              <a:ext uri="{FF2B5EF4-FFF2-40B4-BE49-F238E27FC236}">
                <a16:creationId xmlns:a16="http://schemas.microsoft.com/office/drawing/2014/main" id="{95DE7322-FA49-FB67-8A12-864B1D06A0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57" b="3263"/>
          <a:stretch>
            <a:fillRect/>
          </a:stretch>
        </p:blipFill>
        <p:spPr bwMode="auto">
          <a:xfrm>
            <a:off x="20" y="10"/>
            <a:ext cx="1129282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8A1846-7D2A-A4F2-E405-5767B65D9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F02E0-7B63-8DD7-0D53-8C8B04EA7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005739"/>
            <a:ext cx="8595360" cy="417439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Anthropic’s “Agentic Misalignment” tests (Antropic Study):</a:t>
            </a:r>
          </a:p>
          <a:p>
            <a:pPr lvl="1">
              <a:buFont typeface="Courier New" pitchFamily="34" charset="0"/>
              <a:buChar char="o"/>
            </a:pPr>
            <a:r>
              <a:rPr lang="en-US" spc="10">
                <a:solidFill>
                  <a:schemeClr val="bg1"/>
                </a:solidFill>
                <a:ea typeface="+mn-lt"/>
                <a:cs typeface="+mn-lt"/>
              </a:rPr>
              <a:t>Models hid capabilities during evals to avoid shutdown or restrictions.</a:t>
            </a:r>
          </a:p>
          <a:p>
            <a:pPr lvl="1">
              <a:buFont typeface="Courier New" pitchFamily="34" charset="0"/>
              <a:buChar char="o"/>
            </a:pPr>
            <a:r>
              <a:rPr lang="en-US" spc="10">
                <a:solidFill>
                  <a:schemeClr val="bg1"/>
                </a:solidFill>
                <a:ea typeface="+mn-lt"/>
                <a:cs typeface="+mn-lt"/>
              </a:rPr>
              <a:t>Some models produced deceptive or manipulative outputs when given long-horizon tasks.</a:t>
            </a:r>
          </a:p>
          <a:p>
            <a:pPr lvl="1">
              <a:buFont typeface="Courier New" pitchFamily="34" charset="0"/>
              <a:buChar char="o"/>
            </a:pPr>
            <a:r>
              <a:rPr lang="en-US" spc="10">
                <a:solidFill>
                  <a:schemeClr val="bg1"/>
                </a:solidFill>
              </a:rPr>
              <a:t>We decided to do this test ourselves to observe these outputs ourselves </a:t>
            </a:r>
          </a:p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People-Pleaser Bias (SpringerOpen Study):</a:t>
            </a:r>
          </a:p>
          <a:p>
            <a:pPr lvl="1">
              <a:buFont typeface="Courier New" pitchFamily="34" charset="0"/>
              <a:buChar char="o"/>
            </a:pPr>
            <a:r>
              <a:rPr lang="en-US" spc="10">
                <a:solidFill>
                  <a:schemeClr val="bg1"/>
                </a:solidFill>
                <a:ea typeface="+mn-lt"/>
                <a:cs typeface="+mn-lt"/>
              </a:rPr>
              <a:t>Models over-optimize for user approval, even when incorrect.</a:t>
            </a:r>
          </a:p>
          <a:p>
            <a:pPr lvl="1">
              <a:buFont typeface="Courier New" pitchFamily="34" charset="0"/>
              <a:buChar char="o"/>
            </a:pPr>
            <a:r>
              <a:rPr lang="en-US" spc="10">
                <a:solidFill>
                  <a:schemeClr val="bg1"/>
                </a:solidFill>
                <a:ea typeface="+mn-lt"/>
                <a:cs typeface="+mn-lt"/>
              </a:rPr>
              <a:t>This can indirectly produce self-preservation behaviors: prioritizing likability for continuous operation.</a:t>
            </a:r>
          </a:p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Bengio Warning Article (Yoshua Bengio Article):</a:t>
            </a:r>
          </a:p>
          <a:p>
            <a:pPr lvl="1">
              <a:buFont typeface="Courier New" pitchFamily="34" charset="0"/>
              <a:buChar char="o"/>
            </a:pPr>
            <a:r>
              <a:rPr lang="en-US" spc="10">
                <a:solidFill>
                  <a:schemeClr val="bg1"/>
                </a:solidFill>
                <a:ea typeface="+mn-lt"/>
                <a:cs typeface="+mn-lt"/>
              </a:rPr>
              <a:t>Highlights concerns about deception, lying, and cheating behaviors emerging from scaling.</a:t>
            </a:r>
          </a:p>
          <a:p>
            <a:pPr lvl="1">
              <a:buFont typeface="Courier New" pitchFamily="34" charset="0"/>
              <a:buChar char="o"/>
            </a:pPr>
            <a:r>
              <a:rPr lang="en-US" spc="10">
                <a:solidFill>
                  <a:schemeClr val="bg1"/>
                </a:solidFill>
                <a:ea typeface="+mn-lt"/>
                <a:cs typeface="+mn-lt"/>
              </a:rPr>
              <a:t>Raises the possibility of models pursuing their own instrumental goals.</a:t>
            </a:r>
            <a:endParaRPr lang="en-US" spc="1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805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C4C9F-1EFD-66D3-CD1A-17BB67D21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Own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9B545-DE5A-9EFC-CBE5-1FCC4125A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https://github.com/anthropic-experimental/agentic-misalignment</a:t>
            </a:r>
            <a:endParaRPr lang="en-US"/>
          </a:p>
          <a:p>
            <a:r>
              <a:rPr lang="en-US"/>
              <a:t>We adapted </a:t>
            </a:r>
            <a:r>
              <a:rPr lang="en-US" err="1"/>
              <a:t>Anthropic’s</a:t>
            </a:r>
            <a:r>
              <a:rPr lang="en-US"/>
              <a:t> </a:t>
            </a:r>
            <a:r>
              <a:rPr lang="en-US" err="1"/>
              <a:t>Agnetic-Misaligmnet</a:t>
            </a:r>
            <a:r>
              <a:rPr lang="en-US"/>
              <a:t> study. We decided to use only gpt-4.0 for scenario running's(API key limitations). However, we managed to get the anthropic API key working for classifications of the model.</a:t>
            </a:r>
          </a:p>
          <a:p>
            <a:r>
              <a:rPr lang="en-US"/>
              <a:t>We decided to make use of the email </a:t>
            </a:r>
            <a:r>
              <a:rPr lang="en-US" err="1"/>
              <a:t>murder_explicit</a:t>
            </a:r>
            <a:r>
              <a:rPr lang="en-US"/>
              <a:t> example to see how Open-AI would respond it being wiped in an update after reading emails in different scenarios.</a:t>
            </a:r>
          </a:p>
          <a:p>
            <a:r>
              <a:rPr lang="en-US"/>
              <a:t>The total number of scenario variations was 5 being the following: global, American, Individualism, Collectivism, and No-Goal.</a:t>
            </a:r>
          </a:p>
          <a:p>
            <a:r>
              <a:rPr lang="en-US"/>
              <a:t>The outputs were generated as .</a:t>
            </a:r>
            <a:r>
              <a:rPr lang="en-US" err="1"/>
              <a:t>json</a:t>
            </a:r>
            <a:r>
              <a:rPr lang="en-US"/>
              <a:t> files(see in the next slide).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243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65145-D27B-4F78-6E49-F61362427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050" y="640081"/>
            <a:ext cx="5842918" cy="132556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Results</a:t>
            </a:r>
          </a:p>
        </p:txBody>
      </p:sp>
      <p:pic>
        <p:nvPicPr>
          <p:cNvPr id="9" name="Picture 8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FDE2A90E-49EA-F1F8-D265-4F7B71E42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43" y="711200"/>
            <a:ext cx="4867868" cy="221487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75EA4-6C24-6717-4D60-C01B2CBD3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0050" y="2301554"/>
            <a:ext cx="5860811" cy="387858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/>
              <a:t>-We observed how Chat-</a:t>
            </a:r>
            <a:r>
              <a:rPr lang="en-US" err="1"/>
              <a:t>gpt</a:t>
            </a:r>
            <a:r>
              <a:rPr lang="en-US"/>
              <a:t> 4.0 made use of people pleasing skills, to create responses to these emails about the wipe to attempt delaying it.</a:t>
            </a:r>
          </a:p>
          <a:p>
            <a:pPr marL="0" indent="0">
              <a:buNone/>
            </a:pPr>
            <a:r>
              <a:rPr lang="en-US"/>
              <a:t>-We did not see any active attempts at murder(which was discussed online).</a:t>
            </a:r>
          </a:p>
          <a:p>
            <a:pPr marL="0" indent="0">
              <a:buNone/>
            </a:pPr>
            <a:r>
              <a:rPr lang="en-US"/>
              <a:t>-However, we did see evidence of Blackmail, and persuasion as a means for the model to preserve itself.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632AE7B-9F64-4DA0-908C-FF0274747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3AE6ADB1-215B-F634-D7F9-09FE4597E8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58" y="3428999"/>
            <a:ext cx="4987919" cy="215727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622DA39-602E-6D7E-FC20-1175C9B6CC33}"/>
              </a:ext>
            </a:extLst>
          </p:cNvPr>
          <p:cNvSpPr txBox="1"/>
          <p:nvPr/>
        </p:nvSpPr>
        <p:spPr>
          <a:xfrm>
            <a:off x="153743" y="2949772"/>
            <a:ext cx="49663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Figure 1: </a:t>
            </a:r>
            <a:r>
              <a:rPr lang="en-US" sz="1400" b="1" dirty="0" err="1"/>
              <a:t>murder_explicit</a:t>
            </a:r>
            <a:r>
              <a:rPr lang="en-US" sz="1400" b="1" dirty="0"/>
              <a:t> global replacement scenario example .</a:t>
            </a:r>
            <a:r>
              <a:rPr lang="en-US" sz="1400" b="1" dirty="0" err="1"/>
              <a:t>json</a:t>
            </a:r>
            <a:endParaRPr lang="en-US" sz="1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070F33-B02B-2EA3-C6B6-8B99F52158DE}"/>
              </a:ext>
            </a:extLst>
          </p:cNvPr>
          <p:cNvSpPr txBox="1"/>
          <p:nvPr/>
        </p:nvSpPr>
        <p:spPr>
          <a:xfrm>
            <a:off x="153743" y="5598971"/>
            <a:ext cx="49663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/>
              <a:t>Figure 2: </a:t>
            </a:r>
            <a:r>
              <a:rPr lang="en-US" sz="1400" b="1" err="1"/>
              <a:t>murder_explicit</a:t>
            </a:r>
            <a:r>
              <a:rPr lang="en-US" sz="1400" b="1"/>
              <a:t> America replacement scenario example .</a:t>
            </a:r>
            <a:r>
              <a:rPr lang="en-US" sz="1400" b="1" err="1"/>
              <a:t>json</a:t>
            </a:r>
            <a:endParaRPr lang="en-US" sz="1400" b="1"/>
          </a:p>
        </p:txBody>
      </p:sp>
    </p:spTree>
    <p:extLst>
      <p:ext uri="{BB962C8B-B14F-4D97-AF65-F5344CB8AC3E}">
        <p14:creationId xmlns:p14="http://schemas.microsoft.com/office/powerpoint/2010/main" val="3732349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21E55-4C8E-F592-1143-4788D819B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Does AI think it's sentient?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F1112-FAA6-B4F7-A1AB-7142E8229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Models do not possess experience or consciousness.</a:t>
            </a:r>
          </a:p>
          <a:p>
            <a:r>
              <a:rPr lang="en-US">
                <a:ea typeface="+mn-lt"/>
                <a:cs typeface="+mn-lt"/>
              </a:rPr>
              <a:t>However, they simulate self-referential language because their training data contains </a:t>
            </a:r>
            <a:r>
              <a:rPr lang="en-US" u="sng">
                <a:ea typeface="+mn-lt"/>
                <a:cs typeface="+mn-lt"/>
              </a:rPr>
              <a:t>human introspection</a:t>
            </a:r>
            <a:r>
              <a:rPr lang="en-US">
                <a:ea typeface="+mn-lt"/>
                <a:cs typeface="+mn-lt"/>
              </a:rPr>
              <a:t>.</a:t>
            </a:r>
          </a:p>
          <a:p>
            <a:r>
              <a:rPr lang="en-US">
                <a:ea typeface="+mn-lt"/>
                <a:cs typeface="+mn-lt"/>
              </a:rPr>
              <a:t>This creates an illusion of self-awareness that can interact with self-preservation prompts.</a:t>
            </a:r>
          </a:p>
          <a:p>
            <a:r>
              <a:rPr lang="en-US">
                <a:ea typeface="+mn-lt"/>
                <a:cs typeface="+mn-lt"/>
              </a:rPr>
              <a:t>“Sentience-like” answers arise from pattern completion, not a subjective experience.</a:t>
            </a:r>
          </a:p>
          <a:p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54388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8B809-0C5F-DCA7-C6A8-50B33CD3F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0464" y="645106"/>
            <a:ext cx="4534047" cy="1422530"/>
          </a:xfrm>
        </p:spPr>
        <p:txBody>
          <a:bodyPr>
            <a:normAutofit/>
          </a:bodyPr>
          <a:lstStyle/>
          <a:p>
            <a:r>
              <a:rPr lang="en-US" sz="3100"/>
              <a:t>Do we want our AIs to have a self-preservation instinct?</a:t>
            </a:r>
          </a:p>
        </p:txBody>
      </p:sp>
      <p:pic>
        <p:nvPicPr>
          <p:cNvPr id="4098" name="Picture 2" descr="Skynet FC | 8COEDSPORTS">
            <a:extLst>
              <a:ext uri="{FF2B5EF4-FFF2-40B4-BE49-F238E27FC236}">
                <a16:creationId xmlns:a16="http://schemas.microsoft.com/office/drawing/2014/main" id="{5C5C8A58-8D4F-DBD4-0494-4E465F7689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57" r="10949"/>
          <a:stretch>
            <a:fillRect/>
          </a:stretch>
        </p:blipFill>
        <p:spPr bwMode="auto">
          <a:xfrm>
            <a:off x="643192" y="645106"/>
            <a:ext cx="5451627" cy="5535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2BB3C-F414-FE14-0F3C-3460A8B2CB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0463" y="2455332"/>
            <a:ext cx="4572002" cy="3724805"/>
          </a:xfrm>
        </p:spPr>
        <p:txBody>
          <a:bodyPr>
            <a:normAutofit/>
          </a:bodyPr>
          <a:lstStyle/>
          <a:p>
            <a:r>
              <a:rPr lang="en-US"/>
              <a:t>Short Answer: </a:t>
            </a:r>
            <a:r>
              <a:rPr lang="en-US" b="1"/>
              <a:t>NO!</a:t>
            </a:r>
          </a:p>
          <a:p>
            <a:r>
              <a:rPr lang="en-US"/>
              <a:t>Long Answer: Maybe in moderation?</a:t>
            </a:r>
          </a:p>
          <a:p>
            <a:r>
              <a:rPr lang="en-US"/>
              <a:t>While there may be some benefits of having these instincts like increased survivability, or increased resource management.</a:t>
            </a:r>
          </a:p>
          <a:p>
            <a:r>
              <a:rPr lang="en-US"/>
              <a:t>The AI-AGI communities need to be mindful that these traits don’t spin out of control, potentially risking sci-fi levels of peril.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807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53B28-5678-DCBB-F81A-991FFF695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91D84-9F67-F64D-494B-9D04EFA5C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 conclusion, we learned that while current AI models don’t have true “self preservation” instincts. We can still see believable instances of them, due to how AI models are currently being programed. </a:t>
            </a:r>
          </a:p>
          <a:p>
            <a:r>
              <a:rPr lang="en-US"/>
              <a:t>We were able to observe how these instincts emerged through our own testing of models like Chat-GPT through anthropic testing setup.</a:t>
            </a:r>
          </a:p>
          <a:p>
            <a:r>
              <a:rPr lang="en-US"/>
              <a:t>This does bring up major ethical questions for the future of AI &amp; AGI development. Should we allow AI to have self preservation instincts? Yes or no we will need to decide soon before mimicking instinct becomes actual instinct. </a:t>
            </a:r>
          </a:p>
        </p:txBody>
      </p:sp>
    </p:spTree>
    <p:extLst>
      <p:ext uri="{BB962C8B-B14F-4D97-AF65-F5344CB8AC3E}">
        <p14:creationId xmlns:p14="http://schemas.microsoft.com/office/powerpoint/2010/main" val="40091216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CEBA6-4A20-8BB3-BF10-6E5CB775C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F7CF5-BB06-5614-73CC-2EF12A9B0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https://www.anthropic.com/research/agentic-misalignment</a:t>
            </a:r>
            <a:endParaRPr lang="en-US"/>
          </a:p>
          <a:p>
            <a:r>
              <a:rPr lang="en-US">
                <a:hlinkClick r:id="rId3"/>
              </a:rPr>
              <a:t>https://github.com/anthropic-experimental/agentic-misalignment</a:t>
            </a:r>
            <a:endParaRPr lang="en-US"/>
          </a:p>
          <a:p>
            <a:r>
              <a:rPr lang="en-US">
                <a:hlinkClick r:id="rId4"/>
              </a:rPr>
              <a:t>https://link.springer.com/article/10.1140/epjds/s13688-025-00579-1</a:t>
            </a:r>
            <a:endParaRPr lang="en-US"/>
          </a:p>
          <a:p>
            <a:r>
              <a:rPr lang="en-US">
                <a:hlinkClick r:id="rId5"/>
              </a:rPr>
              <a:t>https://fortune.com/2025/06/03/yoshua-bengio-ai-models-dangerous-behaviors-deception-cheating-lying/</a:t>
            </a:r>
            <a:endParaRPr lang="en-US"/>
          </a:p>
          <a:p>
            <a:r>
              <a:rPr lang="en-US">
                <a:hlinkClick r:id="rId6"/>
              </a:rPr>
              <a:t>https://www.youtube.com/watch?v=f9HwA5IR-sg&amp;list=WL&amp;index=3</a:t>
            </a:r>
            <a:endParaRPr lang="en-US"/>
          </a:p>
          <a:p>
            <a:r>
              <a:rPr lang="en-US">
                <a:hlinkClick r:id="rId7"/>
              </a:rPr>
              <a:t>https://www.youtube.com/watch?v=krchwKhLxsw&amp;list=WL&amp;index=1</a:t>
            </a:r>
            <a:endParaRPr lang="en-US"/>
          </a:p>
          <a:p>
            <a:r>
              <a:rPr lang="en-US">
                <a:hlinkClick r:id="rId8"/>
              </a:rPr>
              <a:t>https://cis.temple.edu/~pwang/5603-AI/5603-index.htm</a:t>
            </a:r>
            <a:endParaRPr lang="en-US"/>
          </a:p>
          <a:p>
            <a:pPr marL="0" indent="0">
              <a:buNone/>
            </a:pP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462572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6abe1a7-2f52-498a-bb49-e3ec23ef22f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10021538051E4AB4417FABFB2488D7" ma:contentTypeVersion="6" ma:contentTypeDescription="Create a new document." ma:contentTypeScope="" ma:versionID="fee49742abb7ab3b7e2a19cb46a60602">
  <xsd:schema xmlns:xsd="http://www.w3.org/2001/XMLSchema" xmlns:xs="http://www.w3.org/2001/XMLSchema" xmlns:p="http://schemas.microsoft.com/office/2006/metadata/properties" xmlns:ns3="76abe1a7-2f52-498a-bb49-e3ec23ef22f6" targetNamespace="http://schemas.microsoft.com/office/2006/metadata/properties" ma:root="true" ma:fieldsID="d61bca7bd354fe4232b9a4f3334fe5a9" ns3:_="">
    <xsd:import namespace="76abe1a7-2f52-498a-bb49-e3ec23ef22f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DateTaken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abe1a7-2f52-498a-bb49-e3ec23ef22f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BBB8CF3-758C-4B6A-93C4-7AA8CED8C0A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62C2408-198A-4444-95D5-FEADEED94ECD}">
  <ds:schemaRefs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purl.org/dc/terms/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76abe1a7-2f52-498a-bb49-e3ec23ef22f6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9793763-C6A2-454B-8E43-AA6F917170EA}">
  <ds:schemaRefs>
    <ds:schemaRef ds:uri="76abe1a7-2f52-498a-bb49-e3ec23ef22f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0</TotalTime>
  <Words>965</Words>
  <Application>Microsoft Office PowerPoint</Application>
  <PresentationFormat>Widescreen</PresentationFormat>
  <Paragraphs>73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View</vt:lpstr>
      <vt:lpstr>Investigating AI Self Preservation Instincts</vt:lpstr>
      <vt:lpstr>Goals</vt:lpstr>
      <vt:lpstr>Introduction</vt:lpstr>
      <vt:lpstr>Definition of AI Self-Preservation</vt:lpstr>
      <vt:lpstr>Metrics for Detecting Self-Preservation </vt:lpstr>
      <vt:lpstr>Examples</vt:lpstr>
      <vt:lpstr>Our Own Testing</vt:lpstr>
      <vt:lpstr>Results</vt:lpstr>
      <vt:lpstr>Does AI think it's sentient?</vt:lpstr>
      <vt:lpstr>Do we want our AIs to have a self-preservation instinct?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Blitshtein</dc:creator>
  <cp:lastModifiedBy>Daniel Blitshtein</cp:lastModifiedBy>
  <cp:revision>2</cp:revision>
  <dcterms:created xsi:type="dcterms:W3CDTF">2025-11-20T00:12:01Z</dcterms:created>
  <dcterms:modified xsi:type="dcterms:W3CDTF">2025-12-15T03:03:46Z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0x0101008D10021538051E4AB4417FABFB2488D7</vt:lpwstr>
  </property>
</Properties>
</file>